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orben"/>
      <p:regular r:id="rId17"/>
    </p:embeddedFont>
    <p:embeddedFont>
      <p:font typeface="Corben"/>
      <p:regular r:id="rId18"/>
    </p:embeddedFont>
    <p:embeddedFont>
      <p:font typeface="Nobile"/>
      <p:regular r:id="rId19"/>
    </p:embeddedFont>
    <p:embeddedFont>
      <p:font typeface="Nobile"/>
      <p:regular r:id="rId20"/>
    </p:embeddedFont>
    <p:embeddedFont>
      <p:font typeface="Nobile"/>
      <p:regular r:id="rId21"/>
    </p:embeddedFont>
    <p:embeddedFont>
      <p:font typeface="Nobile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74155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Predicting Hospital Readmission for Diabetic Patients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11571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Project overview using diabetic_data.csv — clinical features → readmission prediction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1180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Dataset Snapshot — diabetic_data.csv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2110383"/>
            <a:ext cx="2290465" cy="1053182"/>
          </a:xfrm>
          <a:prstGeom prst="roundRect">
            <a:avLst>
              <a:gd name="adj" fmla="val 5654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225690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Records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563416"/>
            <a:ext cx="1997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~70k hospital visits (de-identified)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2110383"/>
            <a:ext cx="2290539" cy="1053182"/>
          </a:xfrm>
          <a:prstGeom prst="roundRect">
            <a:avLst>
              <a:gd name="adj" fmla="val 5654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225690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Target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2563416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readmitted (yes/no / within 30 days)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305324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34518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Sources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758357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EMR fields: demographics, labs, meds, diagnoses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8577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341364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Goal: Predict whether a diabetic patient will be readmitted (binary classification)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2954462"/>
            <a:ext cx="4722763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Why it matters: reduce costs, improve care coordination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case: early intervention flags at discharge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902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Features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14079"/>
            <a:ext cx="3478039" cy="1970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24796" y="2095128"/>
            <a:ext cx="4327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Representative features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324796" y="2449488"/>
            <a:ext cx="432777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Demographics: age, gender, race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Clinical: diagnoses, comorbidities (CHF, hypertension)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Medications: insulin, metformin, number of meds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Labs &amp; vitals: glucose, HbA1c, creatinine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Utilization: # previous admissions, length of stay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9610" y="390004"/>
            <a:ext cx="32118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Preprocessing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49610" y="966043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49610" y="1170087"/>
            <a:ext cx="4815780" cy="14288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6" name="Text 3"/>
          <p:cNvSpPr/>
          <p:nvPr/>
        </p:nvSpPr>
        <p:spPr>
          <a:xfrm>
            <a:off x="449610" y="126288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Missing values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49610" y="1533376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Impute labs (median), flag missing categorical values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49610" y="194198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9610" y="2146027"/>
            <a:ext cx="4815780" cy="14288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0" name="Text 7"/>
          <p:cNvSpPr/>
          <p:nvPr/>
        </p:nvSpPr>
        <p:spPr>
          <a:xfrm>
            <a:off x="449610" y="223882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Encoding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49610" y="2509317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One-hot for nominal; ordinal mapping for age buckets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49610" y="291792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9610" y="3121968"/>
            <a:ext cx="4815780" cy="14288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4" name="Text 11"/>
          <p:cNvSpPr/>
          <p:nvPr/>
        </p:nvSpPr>
        <p:spPr>
          <a:xfrm>
            <a:off x="449610" y="3214762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Normalization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49610" y="3485257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Scale lab values (RobustScaler) to reduce outlier impact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9610" y="3893865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49610" y="4097908"/>
            <a:ext cx="4815780" cy="14288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8" name="Text 15"/>
          <p:cNvSpPr/>
          <p:nvPr/>
        </p:nvSpPr>
        <p:spPr>
          <a:xfrm>
            <a:off x="449610" y="4190702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Split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49610" y="4461197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Train/val/test (70/15/15) with stratification on readmission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680241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Exploratory Data Analysis — Key Insights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843460"/>
            <a:ext cx="2628230" cy="2190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Higher readmission rates for older age groups and multiple comorbidities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Prior admissions strong predictor — clear positive correlation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Certain meds (insulin) associated with higher readmission frequency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Missing labs concentrated in outpatient records → potential bias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04293"/>
            <a:ext cx="462089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Model Selection &amp; Approach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330797"/>
            <a:ext cx="753740" cy="7537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7038" y="2330797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27038" y="2637309"/>
            <a:ext cx="166821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Baseline interpretable model; regularization added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2330797"/>
            <a:ext cx="753740" cy="7537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03353" y="2330797"/>
            <a:ext cx="166821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Decision Tree / Random Forest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203353" y="2858765"/>
            <a:ext cx="166821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Captures non-linearities; feature importance analysis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330797"/>
            <a:ext cx="753740" cy="7537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79667" y="2330797"/>
            <a:ext cx="166821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Gradient Boosting (XGBoost)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979667" y="2858765"/>
            <a:ext cx="166821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Higher accuracy candidate; careful tuning to avoid overfit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367821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Training &amp; Evaluation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806699"/>
            <a:ext cx="380702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0000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456" y="1829544"/>
            <a:ext cx="57150" cy="57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5656" y="1820987"/>
            <a:ext cx="237827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40415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Accuracy</a:t>
            </a:r>
            <a:endParaRPr lang="en-US" sz="450" dirty="0"/>
          </a:p>
        </p:txBody>
      </p:sp>
      <p:sp>
        <p:nvSpPr>
          <p:cNvPr id="6" name="Shape 3"/>
          <p:cNvSpPr/>
          <p:nvPr/>
        </p:nvSpPr>
        <p:spPr>
          <a:xfrm>
            <a:off x="914921" y="1806699"/>
            <a:ext cx="368201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0000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258" y="1829544"/>
            <a:ext cx="57150" cy="571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4458" y="1820987"/>
            <a:ext cx="225326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40415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F1 Score</a:t>
            </a:r>
            <a:endParaRPr lang="en-US" sz="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57164"/>
            <a:ext cx="3902943" cy="21609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49701" y="1774775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Metrics (validation): accuracy, precision, recall, F1. Use confusion matrix for clinical utility (false negatives risk).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4749701" y="2387873"/>
            <a:ext cx="3902943" cy="829196"/>
          </a:xfrm>
          <a:prstGeom prst="roundRect">
            <a:avLst>
              <a:gd name="adj" fmla="val 7181"/>
            </a:avLst>
          </a:prstGeom>
          <a:solidFill>
            <a:srgbClr val="BBC6F7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2593404"/>
            <a:ext cx="177180" cy="1417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10398" y="2565053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Prioritize recall for safe discharge decisions; tune threshold accordingly.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8619"/>
            <a:ext cx="595334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Results, Interpretation &amp; Challenges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93677"/>
            <a:ext cx="3902943" cy="22116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69120"/>
            <a:ext cx="3902943" cy="2338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Best model: XGBoost — highest accuracy and F1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Top predictors: prior admissions, length of stay, HbA1c, insulin use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Interpretability: SHAP values used to explain individual predictions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Challenges:           </a:t>
            </a:r>
            <a:endParaRPr lang="en-US" sz="1100" dirty="0"/>
          </a:p>
          <a:p>
            <a:pPr algn="l" lvl="1" marL="685800" indent="-342900">
              <a:lnSpc>
                <a:spcPts val="1750"/>
              </a:lnSpc>
              <a:buSzPct val="100000"/>
              <a:buChar char="◦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Missing and biased lab values</a:t>
            </a:r>
            <a:endParaRPr lang="en-US" sz="1100" dirty="0"/>
          </a:p>
          <a:p>
            <a:pPr algn="l" lvl="1" marL="685800" indent="-342900">
              <a:lnSpc>
                <a:spcPts val="1750"/>
              </a:lnSpc>
              <a:buSzPct val="100000"/>
              <a:buChar char="◦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Class imbalance (few early readmissions)</a:t>
            </a:r>
            <a:endParaRPr lang="en-US" sz="1100" dirty="0"/>
          </a:p>
          <a:p>
            <a:pPr algn="l" lvl="1" marL="685800" indent="-342900">
              <a:lnSpc>
                <a:spcPts val="1750"/>
              </a:lnSpc>
              <a:buSzPct val="100000"/>
              <a:buChar char="◦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drift across hospitals / coding differences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71364"/>
            <a:ext cx="409418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Conclusion &amp; Next Steps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326952"/>
            <a:ext cx="2290465" cy="1308571"/>
          </a:xfrm>
          <a:prstGeom prst="roundRect">
            <a:avLst>
              <a:gd name="adj" fmla="val 4550"/>
            </a:avLst>
          </a:prstGeom>
          <a:solidFill>
            <a:srgbClr val="F9F9FF">
              <a:alpha val="95000"/>
            </a:srgbClr>
          </a:solidFill>
          <a:ln w="19050">
            <a:solidFill>
              <a:srgbClr val="B8BF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6927" y="14877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Deploy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1794272"/>
            <a:ext cx="19688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Prototype clinical dashboard with risk alerts; pilot on one ward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326952"/>
            <a:ext cx="2290539" cy="1308571"/>
          </a:xfrm>
          <a:prstGeom prst="roundRect">
            <a:avLst>
              <a:gd name="adj" fmla="val 4550"/>
            </a:avLst>
          </a:prstGeom>
          <a:solidFill>
            <a:srgbClr val="F9F9FF">
              <a:alpha val="95000"/>
            </a:srgbClr>
          </a:solidFill>
          <a:ln w="19050">
            <a:solidFill>
              <a:srgbClr val="B8BF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89151" y="14877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Validate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89151" y="1794272"/>
            <a:ext cx="1968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Prospective validation and clinician feedback loop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2777282"/>
            <a:ext cx="2290465" cy="1308571"/>
          </a:xfrm>
          <a:prstGeom prst="roundRect">
            <a:avLst>
              <a:gd name="adj" fmla="val 4550"/>
            </a:avLst>
          </a:prstGeom>
          <a:solidFill>
            <a:srgbClr val="F9F9FF">
              <a:alpha val="95000"/>
            </a:srgbClr>
          </a:solidFill>
          <a:ln w="19050">
            <a:solidFill>
              <a:srgbClr val="B8BF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6927" y="29380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Improve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56927" y="3244602"/>
            <a:ext cx="19688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Address bias, integrate social determinants, expand feature set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28342" y="2777282"/>
            <a:ext cx="2290539" cy="1308571"/>
          </a:xfrm>
          <a:prstGeom prst="roundRect">
            <a:avLst>
              <a:gd name="adj" fmla="val 4550"/>
            </a:avLst>
          </a:prstGeom>
          <a:solidFill>
            <a:srgbClr val="F9F9FF">
              <a:alpha val="95000"/>
            </a:srgbClr>
          </a:solidFill>
          <a:ln w="19050">
            <a:solidFill>
              <a:srgbClr val="B8BF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89151" y="29380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Ethics &amp; Governance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089151" y="3244602"/>
            <a:ext cx="19689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Regular fairness audits, clear documentation, patient privacy safeguards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6119" y="4245322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Questions?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2026-05-06T22:45:20Z</dcterms:created>
  <dcterms:modified xsi:type="dcterms:W3CDTF">2026-05-06T22:45:20Z</dcterms:modified>
</cp:coreProperties>
</file>